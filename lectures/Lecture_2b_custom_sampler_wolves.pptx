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666" r:id="rId2"/>
    <p:sldId id="667" r:id="rId3"/>
    <p:sldId id="672" r:id="rId4"/>
    <p:sldId id="1967" r:id="rId5"/>
    <p:sldId id="1973" r:id="rId6"/>
    <p:sldId id="1953" r:id="rId7"/>
    <p:sldId id="671" r:id="rId8"/>
    <p:sldId id="668" r:id="rId9"/>
    <p:sldId id="1951" r:id="rId10"/>
    <p:sldId id="1952" r:id="rId11"/>
    <p:sldId id="669" r:id="rId12"/>
    <p:sldId id="1954" r:id="rId13"/>
    <p:sldId id="1955" r:id="rId14"/>
    <p:sldId id="1965" r:id="rId15"/>
    <p:sldId id="670" r:id="rId16"/>
    <p:sldId id="1963" r:id="rId17"/>
    <p:sldId id="1961" r:id="rId18"/>
    <p:sldId id="1969" r:id="rId19"/>
    <p:sldId id="1964" r:id="rId20"/>
    <p:sldId id="1962" r:id="rId21"/>
    <p:sldId id="1966" r:id="rId22"/>
    <p:sldId id="1974" r:id="rId23"/>
    <p:sldId id="673" r:id="rId24"/>
    <p:sldId id="1968" r:id="rId25"/>
    <p:sldId id="1975" r:id="rId26"/>
    <p:sldId id="1970" r:id="rId27"/>
    <p:sldId id="677" r:id="rId28"/>
    <p:sldId id="1971" r:id="rId29"/>
    <p:sldId id="1972" r:id="rId30"/>
    <p:sldId id="1976" r:id="rId31"/>
    <p:sldId id="1978" r:id="rId32"/>
    <p:sldId id="674" r:id="rId33"/>
    <p:sldId id="1977" r:id="rId34"/>
    <p:sldId id="646" r:id="rId35"/>
    <p:sldId id="647" r:id="rId36"/>
    <p:sldId id="648" r:id="rId37"/>
    <p:sldId id="650" r:id="rId38"/>
    <p:sldId id="665" r:id="rId39"/>
    <p:sldId id="1979" r:id="rId40"/>
    <p:sldId id="1980" r:id="rId41"/>
    <p:sldId id="657" r:id="rId42"/>
    <p:sldId id="613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E5769-DD77-455F-93EB-919A6E8C137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61C2C-C8BB-44B9-9D8B-6D0FC7B3B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779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79EDF7BE-D5CB-4E18-A3FE-982D3CFD6837}" type="slidenum">
              <a:rPr lang="de-DE" sz="1200" smtClean="0">
                <a:latin typeface="Helvetica" panose="020B0604020202020204" pitchFamily="34" charset="0"/>
                <a:cs typeface="Helvetica" panose="020B0604020202020204" pitchFamily="34" charset="0"/>
              </a:rPr>
              <a:pPr eaLnBrk="1" hangingPunct="1"/>
              <a:t>9</a:t>
            </a:fld>
            <a:endParaRPr lang="de-DE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21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849320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2EB5-B96A-D76D-38C7-E5F56F1B9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B127AC93-7465-88BA-09FA-1585B8AD74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9pPr>
          </a:lstStyle>
          <a:p>
            <a:pPr eaLnBrk="1" hangingPunct="1"/>
            <a:fld id="{79EDF7BE-D5CB-4E18-A3FE-982D3CFD6837}" type="slidenum">
              <a:rPr lang="de-DE" sz="1200" smtClean="0">
                <a:latin typeface="Helvetica" panose="020B0604020202020204" pitchFamily="34" charset="0"/>
                <a:cs typeface="Helvetica" panose="020B0604020202020204" pitchFamily="34" charset="0"/>
              </a:rPr>
              <a:pPr eaLnBrk="1" hangingPunct="1"/>
              <a:t>10</a:t>
            </a:fld>
            <a:endParaRPr lang="de-DE" sz="12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4211" name="Rectangle 1026">
            <a:extLst>
              <a:ext uri="{FF2B5EF4-FFF2-40B4-BE49-F238E27FC236}">
                <a16:creationId xmlns:a16="http://schemas.microsoft.com/office/drawing/2014/main" id="{9A09885A-3EDB-5E3F-A81F-44A14AFA7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4212" name="Rectangle 1027">
            <a:extLst>
              <a:ext uri="{FF2B5EF4-FFF2-40B4-BE49-F238E27FC236}">
                <a16:creationId xmlns:a16="http://schemas.microsoft.com/office/drawing/2014/main" id="{848147B8-82F7-C74D-D4F7-6BAECB5B5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81800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AACED-493A-58DC-7923-42676D36A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47917A-D652-C8B4-06CE-9940956B28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F59DC-47EB-1B3F-4DA7-AA5879A0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49CE9-91DA-74AF-44EB-ACBB70C37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3700-375D-2C10-1905-DD91ACDA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97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A056-B938-D05B-1FEE-BE2EA9EB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24D4A-6BA6-6133-3A08-CCBE9023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772B2-A592-8D2D-9A29-F1707AC6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9BBE2-BB37-07A8-8749-3EFCD0CF1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C0AD2-26B3-37ED-BD4C-F55D3CC08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85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8391E-E40A-5AFF-1B80-B9BD23D2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8EE40-4316-3B28-94A7-A1D927110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C268A-B7E6-6AF1-95FD-6AF0D592F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89BDE-359E-772C-73E2-BF4498E01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3FC44-6EF9-4337-0370-FC96D88EE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8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62EA-D97C-877F-AD21-A0848B06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62BC9-93C3-388C-610F-AC59793A9A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20E42-650F-EBED-62B7-0807CD27A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0331D-8F7A-5454-5362-DE108308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51CAFE-401F-D7BA-24C7-A833E80E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9B420B-3BEF-D570-41D8-7AF1EECA5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5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18F1F-83AA-B14A-69F6-682590BD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FE5956-CAB7-DBFB-CE90-1D2B2A8CC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F85884-89DE-E995-E26E-643167A68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5B336F-9826-0064-5D73-E332FEAD9B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B3BCB9-D808-8F7E-C348-468ED9110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BAAC8-192B-8D01-ED18-DDBD832B7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4D4FD-32F0-92BF-D95E-055542CAE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923D3-FE70-929A-4CB0-2C8CA246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83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F29E2-2DE5-2ADB-904D-6853DE138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7E6E6-3BAF-B32A-6A1D-594EAAA6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72948-9F80-0C71-7218-B08971A29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66F561-E2C9-F9E2-8746-33E33CB1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616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15B484-F796-A16E-85EF-217A05867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8A265-4F0C-3734-8372-9BB34C72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7C01B-6693-C441-B255-FB2C8A5EA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43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B0DF9-FA19-9E9B-CAC3-D210CE34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5D72-A506-B868-8E4A-71A16013D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C2D4A-201D-8A97-1400-1837FC1723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887C6-8D35-964D-8597-4E12A8292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DD9F9-120E-4DF5-3D22-B7F5A431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129BE-DD5A-3CBC-AF57-F0F062A4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65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5697B-EBF2-A8EF-EC3D-592CC1B32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DA73BB-04CE-08C7-8815-FC31C492D7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CF5FE-9A1B-F0D4-2F40-F19F4699B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D8C09-BEC6-465D-09E3-949BECF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06D80-41BD-C1E2-2034-8E1D7225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67677-88D8-2F1C-4553-267A8EF6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192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95A87-8B05-B614-D836-ED585FAA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E73E8-1F29-7293-C1A7-460B6D28E4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2295D-EB0F-512E-105E-C0FAAA326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90C37-09E6-44D3-3E11-81133D1C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13E39-2496-27F4-958C-328CD32A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61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7BE2B-9AC3-5031-0436-5F931C605E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23ED8-8965-2E52-D0F6-99D7A8B75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57707-30A9-B1E4-5EC2-986A19A7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0D155-8E3A-296F-513C-41F9134C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8CCD5-D410-4811-A598-97AE8A19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215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63243-5F57-E4D0-6F7F-7CB18002B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D3BCA-6BBF-8F0F-D68E-77B3DE575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F44FC-2AE1-90FA-F10D-C9956A22B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786E1-D74D-4C56-9FE3-7068CC33104F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4D63E-A1DC-E0D0-5388-EF6AAF91F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9DD5A-B5BC-3546-AEC5-C2EDAD9F1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1DB970-E86E-460E-8AE0-22260FDE51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8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.jpg"/><Relationship Id="rId4" Type="http://schemas.openxmlformats.org/officeDocument/2006/relationships/image" Target="../media/image3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.jpg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.jpg"/><Relationship Id="rId4" Type="http://schemas.openxmlformats.org/officeDocument/2006/relationships/image" Target="../media/image3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.jpg"/><Relationship Id="rId4" Type="http://schemas.openxmlformats.org/officeDocument/2006/relationships/image" Target="../media/image3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B998A-197F-9E03-44DB-830AA68D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B492C87-4014-E79B-9F0F-3215D9421BB8}"/>
              </a:ext>
            </a:extLst>
          </p:cNvPr>
          <p:cNvSpPr txBox="1"/>
          <p:nvPr/>
        </p:nvSpPr>
        <p:spPr>
          <a:xfrm>
            <a:off x="379601" y="293507"/>
            <a:ext cx="1144048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Helvetica" panose="020B0604020202020204" pitchFamily="34" charset="0"/>
              </a:rPr>
              <a:t>Lecture 2b: How do MCMC samplers work and </a:t>
            </a:r>
            <a:r>
              <a:rPr lang="en-US" sz="2400" b="1" u="sng" dirty="0">
                <a:latin typeface="Helvetica" panose="020B0604020202020204" pitchFamily="34" charset="0"/>
              </a:rPr>
              <a:t>how much do priors matter</a:t>
            </a:r>
            <a:r>
              <a:rPr lang="en-US" sz="2400" b="1" dirty="0">
                <a:latin typeface="Helvetica" panose="020B0604020202020204" pitchFamily="34" charset="0"/>
              </a:rPr>
              <a:t>?</a:t>
            </a:r>
          </a:p>
          <a:p>
            <a:r>
              <a:rPr lang="en-US" sz="2000" i="1" dirty="0">
                <a:latin typeface="Helvetica" panose="020B0604020202020204" pitchFamily="34" charset="0"/>
              </a:rPr>
              <a:t>Also: how many wolves are in an average wolf pack?</a:t>
            </a:r>
          </a:p>
        </p:txBody>
      </p:sp>
      <p:pic>
        <p:nvPicPr>
          <p:cNvPr id="1028" name="Picture 4" descr="How to plan a family summer trip to the Swiss Alps | National Geographic">
            <a:extLst>
              <a:ext uri="{FF2B5EF4-FFF2-40B4-BE49-F238E27FC236}">
                <a16:creationId xmlns:a16="http://schemas.microsoft.com/office/drawing/2014/main" id="{F5B462EB-1651-4756-CF33-7C9EF55FB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239" y="1509903"/>
            <a:ext cx="3838194" cy="383819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F885A3-21B5-F3EE-26A4-0BAFAF15FB9D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" panose="020B0604020202020204" pitchFamily="34" charset="0"/>
              </a:rPr>
              <a:t>Code gently borrowed from Kéry &amp; Kellner (</a:t>
            </a:r>
            <a:r>
              <a:rPr lang="en-US" sz="2800" b="1" dirty="0">
                <a:latin typeface="Helvetica" panose="020B0604020202020204" pitchFamily="34" charset="0"/>
              </a:rPr>
              <a:t>2024</a:t>
            </a:r>
            <a:r>
              <a:rPr lang="en-US" sz="2800" dirty="0">
                <a:latin typeface="Helvetica" panose="020B0604020202020204" pitchFamily="34" charset="0"/>
              </a:rPr>
              <a:t>) </a:t>
            </a:r>
            <a:r>
              <a:rPr lang="en-US" sz="2800" i="1" dirty="0">
                <a:latin typeface="Helvetica" panose="020B0604020202020204" pitchFamily="34" charset="0"/>
              </a:rPr>
              <a:t>Academic Press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494FFDC6-C2ED-2064-EE9C-DC37FC2C87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292" y="1504823"/>
            <a:ext cx="6141110" cy="38381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1358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E4678-4C69-1848-3A26-AC2124AA7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924DC3-6E2A-8C9F-576A-95E12E7968D1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Outline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9BA5829A-6E09-0E42-542B-258024545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BB81756-19DF-8238-E17D-A731BF87B037}"/>
              </a:ext>
            </a:extLst>
          </p:cNvPr>
          <p:cNvSpPr txBox="1"/>
          <p:nvPr/>
        </p:nvSpPr>
        <p:spPr>
          <a:xfrm>
            <a:off x="379601" y="1299347"/>
            <a:ext cx="1144048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</a:rPr>
              <a:t>Where do posterior distributions come from?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Helvetica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</a:rPr>
              <a:t>How can we directly understand and visualize the effects of priors?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Helvetica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Helvetica" panose="020B0604020202020204" pitchFamily="34" charset="0"/>
              </a:rPr>
              <a:t>Some thoughts about ‘sampling good’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1875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CBBF3-3ABA-CCD7-D11D-DC851591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804E1D-FEC4-10FE-9C04-E3A471283E86}"/>
              </a:ext>
            </a:extLst>
          </p:cNvPr>
          <p:cNvSpPr txBox="1"/>
          <p:nvPr/>
        </p:nvSpPr>
        <p:spPr>
          <a:xfrm>
            <a:off x="379601" y="293507"/>
            <a:ext cx="11608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Let’s imagine (and simulate) a dataset: counts (y) of wolf pack size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B3844DA2-19EF-719E-C748-807AB9F2A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51A6E9B-1C14-AD34-A618-D4B2D176B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1" y="1078093"/>
            <a:ext cx="7743825" cy="5486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A83375-14F5-722F-CDD0-B2290EF94456}"/>
                  </a:ext>
                </a:extLst>
              </p:cNvPr>
              <p:cNvSpPr txBox="1"/>
              <p:nvPr/>
            </p:nvSpPr>
            <p:spPr>
              <a:xfrm>
                <a:off x="6504631" y="2905377"/>
                <a:ext cx="2508504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=6.068</m:t>
                      </m:r>
                    </m:oMath>
                  </m:oMathPara>
                </a14:m>
                <a:endParaRPr lang="en-US" sz="28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=6.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192</m:t>
                      </m:r>
                    </m:oMath>
                  </m:oMathPara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0.111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A83375-14F5-722F-CDD0-B2290EF94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4631" y="2905377"/>
                <a:ext cx="2508504" cy="1292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01A7CB0D-DFA8-ACE5-CFB2-300756995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9806" y="1267195"/>
            <a:ext cx="4760968" cy="126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16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C9830-1826-6901-1DB8-37A4823B5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CCC149-8F41-089C-9736-24C1A6882B38}"/>
              </a:ext>
            </a:extLst>
          </p:cNvPr>
          <p:cNvSpPr txBox="1"/>
          <p:nvPr/>
        </p:nvSpPr>
        <p:spPr>
          <a:xfrm>
            <a:off x="379601" y="293507"/>
            <a:ext cx="11608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And calculate our best (ML) estimate given the data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9383EE39-A12E-6613-CCA0-BC3094182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CB6A30-DC2D-515D-9A8B-456A586EF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1" y="1078093"/>
            <a:ext cx="7743825" cy="548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E642E9-F3CE-DD0B-F21D-30D9AD63F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6656" y="1962556"/>
            <a:ext cx="4815193" cy="22470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6527C60-82FE-DFF7-7D7B-FC3C5D4952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657" y="1232625"/>
            <a:ext cx="4815192" cy="72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851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2779-EB25-7F9A-8B1E-37A605C32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93C531-7887-5B98-31B0-D36A37AF20C1}"/>
              </a:ext>
            </a:extLst>
          </p:cNvPr>
          <p:cNvSpPr txBox="1"/>
          <p:nvPr/>
        </p:nvSpPr>
        <p:spPr>
          <a:xfrm>
            <a:off x="379601" y="293507"/>
            <a:ext cx="11608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Note I’m taking the exponent of our parameter estimates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304C38B9-B1B2-989E-9B97-99118A0E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33A7E6-526C-08FA-E20A-BBA1AEBC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065" y="1087097"/>
            <a:ext cx="6236959" cy="514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806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7089B-898E-43E3-F1E8-C920829E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A3542E-CAEB-6895-0051-B041D14B5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01" y="1247775"/>
            <a:ext cx="8820150" cy="4362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D463FD-3011-6229-8E87-4CBB5C223CE4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We want to obtain a posterior distribution (estimate) for pack size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50F86923-2679-D329-FBBE-269F96CCB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A5ABAD-C658-72A5-4DB6-E7AFDA04E15F}"/>
                  </a:ext>
                </a:extLst>
              </p:cNvPr>
              <p:cNvSpPr txBox="1"/>
              <p:nvPr/>
            </p:nvSpPr>
            <p:spPr>
              <a:xfrm>
                <a:off x="9286240" y="2471551"/>
                <a:ext cx="23568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EA5ABAD-C658-72A5-4DB6-E7AFDA04E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240" y="2471551"/>
                <a:ext cx="2356866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140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F5178-E573-30F0-4B29-4CD8335A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74B830-3FE7-ADC4-1849-9ED743AD6E1A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Posterior distributions are composed of many samples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320629DD-642A-D9A5-2F7C-B056A4B41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FFA06A-079D-ECE4-7D3A-3610E2695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1" y="1247775"/>
            <a:ext cx="882015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802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8F70-E67B-A43B-78DC-27CE6FD7F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707B4D-3B60-BCF5-6040-3411FE62510B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Where do these samples come from?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F068B9FB-FAA7-EAD9-F16C-7940E9CDA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56FD017-C4B3-0D4D-319C-1FFA5ADE9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1" y="1247775"/>
            <a:ext cx="8820150" cy="4362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EC86F-92ED-2419-C886-89CC7BD1525B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How do we do that?</a:t>
            </a:r>
          </a:p>
        </p:txBody>
      </p:sp>
    </p:spTree>
    <p:extLst>
      <p:ext uri="{BB962C8B-B14F-4D97-AF65-F5344CB8AC3E}">
        <p14:creationId xmlns:p14="http://schemas.microsoft.com/office/powerpoint/2010/main" val="2330896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E076CE-ED38-DA9D-D744-40FE257547F0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BAYES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56F0C4-19EE-5365-346F-E08F2D3F6BC2}"/>
                  </a:ext>
                </a:extLst>
              </p:cNvPr>
              <p:cNvSpPr txBox="1"/>
              <p:nvPr/>
            </p:nvSpPr>
            <p:spPr>
              <a:xfrm>
                <a:off x="2743800" y="2646702"/>
                <a:ext cx="6704399" cy="156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4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56F0C4-19EE-5365-346F-E08F2D3F6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800" y="2646702"/>
                <a:ext cx="6704399" cy="1564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88B386-2CDB-46F7-BD43-7C6F0F95F3B5}"/>
                  </a:ext>
                </a:extLst>
              </p:cNvPr>
              <p:cNvSpPr txBox="1"/>
              <p:nvPr/>
            </p:nvSpPr>
            <p:spPr>
              <a:xfrm>
                <a:off x="379601" y="5364164"/>
                <a:ext cx="6094378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3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parameter(s) of interest</a:t>
                </a:r>
              </a:p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6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data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88B386-2CDB-46F7-BD43-7C6F0F95F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01" y="5364164"/>
                <a:ext cx="6094378" cy="1200329"/>
              </a:xfrm>
              <a:prstGeom prst="rect">
                <a:avLst/>
              </a:prstGeom>
              <a:blipFill>
                <a:blip r:embed="rId4"/>
                <a:stretch>
                  <a:fillRect t="-8122" b="-18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395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4F400-215F-4A82-6DF7-3C0C2A5AE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F3CCA2-E6F0-B3AB-F502-A3BA6B1E46AB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BAYES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EC695D-DD54-EA15-7544-5642E584A5B0}"/>
                  </a:ext>
                </a:extLst>
              </p:cNvPr>
              <p:cNvSpPr txBox="1"/>
              <p:nvPr/>
            </p:nvSpPr>
            <p:spPr>
              <a:xfrm>
                <a:off x="2949047" y="3744663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∝ℓ</m:t>
                      </m:r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EEC695D-DD54-EA15-7544-5642E584A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047" y="3744663"/>
                <a:ext cx="629390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971AB-CE8A-DB76-3189-C889375AD9BE}"/>
                  </a:ext>
                </a:extLst>
              </p:cNvPr>
              <p:cNvSpPr txBox="1"/>
              <p:nvPr/>
            </p:nvSpPr>
            <p:spPr>
              <a:xfrm>
                <a:off x="258870" y="5871995"/>
                <a:ext cx="609437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parameter(s) of interest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: data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68971AB-CE8A-DB76-3189-C889375AD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70" y="5871995"/>
                <a:ext cx="6094378" cy="830997"/>
              </a:xfrm>
              <a:prstGeom prst="rect">
                <a:avLst/>
              </a:prstGeom>
              <a:blipFill>
                <a:blip r:embed="rId4"/>
                <a:stretch>
                  <a:fillRect l="-300" t="-5109" b="-16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07023-B76E-2A88-F4B9-A4452865CB69}"/>
                  </a:ext>
                </a:extLst>
              </p:cNvPr>
              <p:cNvSpPr txBox="1"/>
              <p:nvPr/>
            </p:nvSpPr>
            <p:spPr>
              <a:xfrm>
                <a:off x="2538551" y="1299231"/>
                <a:ext cx="6704399" cy="1564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sz="4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907023-B76E-2A88-F4B9-A4452865C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8551" y="1299231"/>
                <a:ext cx="6704399" cy="1564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6AEEE-E51C-0E61-D53D-C5BD2D26511C}"/>
                  </a:ext>
                </a:extLst>
              </p:cNvPr>
              <p:cNvSpPr txBox="1"/>
              <p:nvPr/>
            </p:nvSpPr>
            <p:spPr>
              <a:xfrm>
                <a:off x="6435544" y="5860998"/>
                <a:ext cx="5128455" cy="78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6×3=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func>
                            <m:funcPr>
                              <m:ctrlP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4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</m:t>
                                  </m:r>
                                </m:e>
                              </m:d>
                            </m:e>
                          </m:func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4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⁡(3)</m:t>
                          </m:r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76AEEE-E51C-0E61-D53D-C5BD2D2651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544" y="5860998"/>
                <a:ext cx="5128455" cy="7886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3151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8AAF7-7EB2-3347-7F6C-2A3746EC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3D479E-B19A-8D14-072D-A0CB816B0BEF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The key is in the name: </a:t>
            </a:r>
            <a:r>
              <a:rPr lang="en-US" sz="2800" b="1" u="sng" dirty="0">
                <a:latin typeface="Helvetica" panose="020B0604020202020204" pitchFamily="34" charset="0"/>
              </a:rPr>
              <a:t>Markov Chain</a:t>
            </a:r>
            <a:r>
              <a:rPr lang="en-US" sz="2800" b="1" dirty="0">
                <a:latin typeface="Helvetica" panose="020B0604020202020204" pitchFamily="34" charset="0"/>
              </a:rPr>
              <a:t> </a:t>
            </a:r>
            <a:r>
              <a:rPr lang="en-US" sz="2800" b="1" u="sng" dirty="0">
                <a:latin typeface="Helvetica" panose="020B0604020202020204" pitchFamily="34" charset="0"/>
              </a:rPr>
              <a:t>Monte Carlo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D46156BF-9C27-77DC-0D9B-E0140B982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461A82E-55F0-B72C-99FA-1F2FCEEFC123}"/>
              </a:ext>
            </a:extLst>
          </p:cNvPr>
          <p:cNvSpPr txBox="1"/>
          <p:nvPr/>
        </p:nvSpPr>
        <p:spPr>
          <a:xfrm>
            <a:off x="375756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i="1" dirty="0">
                <a:latin typeface="Helvetica" panose="020B0604020202020204" pitchFamily="34" charset="0"/>
              </a:rPr>
              <a:t>We will generate these samples one at a time…</a:t>
            </a:r>
            <a:endParaRPr lang="en-US" sz="2800" i="1" u="sng" dirty="0">
              <a:latin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83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BADB2-C195-C48D-7521-8C71F894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855B04-06A3-30EF-288A-67668CA816BD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Markov Chain </a:t>
            </a:r>
            <a:r>
              <a:rPr lang="en-US" sz="2800" dirty="0">
                <a:latin typeface="Helvetica" panose="020B0604020202020204" pitchFamily="34" charset="0"/>
              </a:rPr>
              <a:t>Monte Carlo</a:t>
            </a:r>
          </a:p>
        </p:txBody>
      </p:sp>
      <p:pic>
        <p:nvPicPr>
          <p:cNvPr id="2050" name="Picture 2" descr="Andrey Markov - Wikipedia">
            <a:extLst>
              <a:ext uri="{FF2B5EF4-FFF2-40B4-BE49-F238E27FC236}">
                <a16:creationId xmlns:a16="http://schemas.microsoft.com/office/drawing/2014/main" id="{49C3E318-0609-F5D6-33AD-3E94277CF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570" y="1459738"/>
            <a:ext cx="3011148" cy="4308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9D97D8-F2DD-D2CB-BE1A-50853CE99ADF}"/>
              </a:ext>
            </a:extLst>
          </p:cNvPr>
          <p:cNvSpPr txBox="1"/>
          <p:nvPr/>
        </p:nvSpPr>
        <p:spPr>
          <a:xfrm>
            <a:off x="3749152" y="951723"/>
            <a:ext cx="82304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Helvetica" panose="020B0604020202020204" pitchFamily="34" charset="0"/>
              </a:rPr>
              <a:t>Andrey Markov (1856-1922)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Helvetica" panose="020B0604020202020204" pitchFamily="34" charset="0"/>
              </a:rPr>
              <a:t>Russian mathematician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Helvetica" panose="020B0604020202020204" pitchFamily="34" charset="0"/>
              </a:rPr>
              <a:t>Thesis</a:t>
            </a:r>
            <a:r>
              <a:rPr lang="en-US" sz="1800" dirty="0">
                <a:latin typeface="Helvetica" panose="020B0604020202020204" pitchFamily="34" charset="0"/>
              </a:rPr>
              <a:t>: </a:t>
            </a:r>
            <a:r>
              <a:rPr lang="en-US" sz="1800" i="1" dirty="0">
                <a:latin typeface="Helvetica" panose="020B0604020202020204" pitchFamily="34" charset="0"/>
              </a:rPr>
              <a:t>On the binary square forms with positive determinant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</a:rPr>
              <a:t>Dissertation</a:t>
            </a:r>
            <a:r>
              <a:rPr lang="en-US" dirty="0">
                <a:latin typeface="Helvetica" panose="020B0604020202020204" pitchFamily="34" charset="0"/>
              </a:rPr>
              <a:t>: </a:t>
            </a:r>
            <a:r>
              <a:rPr lang="en-US" i="1" dirty="0">
                <a:latin typeface="Helvetica" panose="020B0604020202020204" pitchFamily="34" charset="0"/>
              </a:rPr>
              <a:t>On certain applications of the algebraic continuous fractions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Helvetica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Helvetica" panose="020B0604020202020204" pitchFamily="34" charset="0"/>
              </a:rPr>
              <a:t>Markov Chains</a:t>
            </a:r>
            <a:r>
              <a:rPr lang="en-US" dirty="0">
                <a:latin typeface="Helvetica" panose="020B0604020202020204" pitchFamily="34" charset="0"/>
              </a:rPr>
              <a:t>: stochastic processes on which the probability of an event depends (only) on the state attained in the previous 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Helvetica" panose="020B0604020202020204" pitchFamily="34" charset="0"/>
              </a:rPr>
              <a:t>e.g., </a:t>
            </a:r>
            <a:r>
              <a:rPr lang="en-US" sz="1800" dirty="0">
                <a:latin typeface="Helvetica" panose="020B0604020202020204" pitchFamily="34" charset="0"/>
              </a:rPr>
              <a:t>multistate models, survival models, behavior models, step-selection functions, MCMC sampling, agent or individual based models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A61E04-A170-D123-C86C-4350CB6C6B99}"/>
              </a:ext>
            </a:extLst>
          </p:cNvPr>
          <p:cNvSpPr/>
          <p:nvPr/>
        </p:nvSpPr>
        <p:spPr>
          <a:xfrm>
            <a:off x="5019964" y="4192998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Alive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F6F9C3-5EE5-1629-F294-224FF95732D2}"/>
              </a:ext>
            </a:extLst>
          </p:cNvPr>
          <p:cNvSpPr/>
          <p:nvPr/>
        </p:nvSpPr>
        <p:spPr>
          <a:xfrm>
            <a:off x="6243782" y="5388633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Dead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6160CBDD-DF94-EDEE-9070-9A5D36CC25CD}"/>
              </a:ext>
            </a:extLst>
          </p:cNvPr>
          <p:cNvCxnSpPr>
            <a:cxnSpLocks/>
            <a:stCxn id="7" idx="0"/>
            <a:endCxn id="7" idx="2"/>
          </p:cNvCxnSpPr>
          <p:nvPr/>
        </p:nvCxnSpPr>
        <p:spPr>
          <a:xfrm rot="16200000" flipH="1" flipV="1">
            <a:off x="5019964" y="4192998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599E52F-E229-AF42-8B29-56C586287F37}"/>
              </a:ext>
            </a:extLst>
          </p:cNvPr>
          <p:cNvCxnSpPr>
            <a:cxnSpLocks/>
            <a:stCxn id="8" idx="6"/>
            <a:endCxn id="8" idx="4"/>
          </p:cNvCxnSpPr>
          <p:nvPr/>
        </p:nvCxnSpPr>
        <p:spPr>
          <a:xfrm flipH="1">
            <a:off x="6700982" y="5845833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E45A89-F926-F875-C953-B6E409CC0878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5800453" y="4973487"/>
            <a:ext cx="577240" cy="54905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251AB15-A5DC-9BC7-EC67-A8B312E61AF9}"/>
              </a:ext>
            </a:extLst>
          </p:cNvPr>
          <p:cNvSpPr/>
          <p:nvPr/>
        </p:nvSpPr>
        <p:spPr>
          <a:xfrm>
            <a:off x="8750744" y="3842816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Alert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2BC5BCB-38AE-9C33-9D00-E083E504F01B}"/>
              </a:ext>
            </a:extLst>
          </p:cNvPr>
          <p:cNvSpPr/>
          <p:nvPr/>
        </p:nvSpPr>
        <p:spPr>
          <a:xfrm>
            <a:off x="8750744" y="5379085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AE1E1FF1-3A2E-467C-9CB6-F16EB7BFF8C3}"/>
              </a:ext>
            </a:extLst>
          </p:cNvPr>
          <p:cNvCxnSpPr>
            <a:cxnSpLocks/>
            <a:stCxn id="26" idx="0"/>
            <a:endCxn id="26" idx="2"/>
          </p:cNvCxnSpPr>
          <p:nvPr/>
        </p:nvCxnSpPr>
        <p:spPr>
          <a:xfrm rot="16200000" flipH="1" flipV="1">
            <a:off x="8750744" y="3842816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882A0A7D-9653-9495-0987-4C34A9747627}"/>
              </a:ext>
            </a:extLst>
          </p:cNvPr>
          <p:cNvCxnSpPr>
            <a:cxnSpLocks/>
            <a:stCxn id="27" idx="2"/>
            <a:endCxn id="27" idx="4"/>
          </p:cNvCxnSpPr>
          <p:nvPr/>
        </p:nvCxnSpPr>
        <p:spPr>
          <a:xfrm rot="10800000" flipH="1" flipV="1">
            <a:off x="8750744" y="5836285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D61E2B-BD81-51CD-5665-55024D194953}"/>
              </a:ext>
            </a:extLst>
          </p:cNvPr>
          <p:cNvCxnSpPr>
            <a:cxnSpLocks/>
            <a:stCxn id="26" idx="4"/>
            <a:endCxn id="27" idx="0"/>
          </p:cNvCxnSpPr>
          <p:nvPr/>
        </p:nvCxnSpPr>
        <p:spPr>
          <a:xfrm>
            <a:off x="9207944" y="4757216"/>
            <a:ext cx="0" cy="6218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F3D2CBF2-B6A3-8D80-002F-3ABC16C67DD9}"/>
              </a:ext>
            </a:extLst>
          </p:cNvPr>
          <p:cNvSpPr/>
          <p:nvPr/>
        </p:nvSpPr>
        <p:spPr>
          <a:xfrm>
            <a:off x="10609430" y="3842816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Eat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0489510-D446-AAD1-1408-6C4E3BC99556}"/>
              </a:ext>
            </a:extLst>
          </p:cNvPr>
          <p:cNvSpPr/>
          <p:nvPr/>
        </p:nvSpPr>
        <p:spPr>
          <a:xfrm>
            <a:off x="10609430" y="5379085"/>
            <a:ext cx="914400" cy="9144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Walk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F1E441-597D-1928-264E-9FBE4B7106C1}"/>
              </a:ext>
            </a:extLst>
          </p:cNvPr>
          <p:cNvSpPr txBox="1"/>
          <p:nvPr/>
        </p:nvSpPr>
        <p:spPr>
          <a:xfrm>
            <a:off x="4355519" y="4012695"/>
            <a:ext cx="498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/>
              <a:t>φ</a:t>
            </a:r>
            <a:endParaRPr lang="en-US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CEE43A-8A6A-B44E-84CA-799A41F45C3D}"/>
              </a:ext>
            </a:extLst>
          </p:cNvPr>
          <p:cNvSpPr txBox="1"/>
          <p:nvPr/>
        </p:nvSpPr>
        <p:spPr>
          <a:xfrm>
            <a:off x="6068275" y="4711877"/>
            <a:ext cx="7842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1-</a:t>
            </a:r>
            <a:r>
              <a:rPr lang="el-GR" sz="2800" dirty="0"/>
              <a:t>φ</a:t>
            </a:r>
            <a:endParaRPr lang="en-US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1A299D-7D6B-CD8D-4AC2-0E4F286FA1C2}"/>
              </a:ext>
            </a:extLst>
          </p:cNvPr>
          <p:cNvSpPr txBox="1"/>
          <p:nvPr/>
        </p:nvSpPr>
        <p:spPr>
          <a:xfrm>
            <a:off x="7349258" y="5584223"/>
            <a:ext cx="58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672364-9655-66CC-EC83-2C9047A8E8D6}"/>
              </a:ext>
            </a:extLst>
          </p:cNvPr>
          <p:cNvCxnSpPr>
            <a:cxnSpLocks/>
            <a:stCxn id="27" idx="7"/>
            <a:endCxn id="33" idx="3"/>
          </p:cNvCxnSpPr>
          <p:nvPr/>
        </p:nvCxnSpPr>
        <p:spPr>
          <a:xfrm flipV="1">
            <a:off x="9531233" y="4623305"/>
            <a:ext cx="1212108" cy="88969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0FD30CF-2A1F-5164-D31C-D8D38BF23302}"/>
              </a:ext>
            </a:extLst>
          </p:cNvPr>
          <p:cNvCxnSpPr>
            <a:cxnSpLocks/>
            <a:stCxn id="27" idx="6"/>
            <a:endCxn id="34" idx="2"/>
          </p:cNvCxnSpPr>
          <p:nvPr/>
        </p:nvCxnSpPr>
        <p:spPr>
          <a:xfrm>
            <a:off x="9665144" y="5836285"/>
            <a:ext cx="9442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3FD22C1-EF16-3289-259D-5EEFDC89FEA1}"/>
              </a:ext>
            </a:extLst>
          </p:cNvPr>
          <p:cNvCxnSpPr>
            <a:cxnSpLocks/>
            <a:stCxn id="27" idx="1"/>
            <a:endCxn id="26" idx="3"/>
          </p:cNvCxnSpPr>
          <p:nvPr/>
        </p:nvCxnSpPr>
        <p:spPr>
          <a:xfrm flipV="1">
            <a:off x="8884655" y="4623305"/>
            <a:ext cx="0" cy="88969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9D8C46-9612-48FE-0C70-5160786D971E}"/>
              </a:ext>
            </a:extLst>
          </p:cNvPr>
          <p:cNvCxnSpPr>
            <a:cxnSpLocks/>
            <a:stCxn id="26" idx="5"/>
            <a:endCxn id="34" idx="1"/>
          </p:cNvCxnSpPr>
          <p:nvPr/>
        </p:nvCxnSpPr>
        <p:spPr>
          <a:xfrm>
            <a:off x="9531233" y="4623305"/>
            <a:ext cx="1212108" cy="88969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3DADDF8-79A6-59BF-DD04-8684E0032364}"/>
              </a:ext>
            </a:extLst>
          </p:cNvPr>
          <p:cNvCxnSpPr>
            <a:cxnSpLocks/>
            <a:stCxn id="26" idx="6"/>
            <a:endCxn id="33" idx="2"/>
          </p:cNvCxnSpPr>
          <p:nvPr/>
        </p:nvCxnSpPr>
        <p:spPr>
          <a:xfrm>
            <a:off x="9665144" y="4300016"/>
            <a:ext cx="94428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4D81C509-0FF1-7FA6-9342-FF9C6EF66AA5}"/>
              </a:ext>
            </a:extLst>
          </p:cNvPr>
          <p:cNvCxnSpPr>
            <a:cxnSpLocks/>
            <a:stCxn id="34" idx="4"/>
            <a:endCxn id="34" idx="6"/>
          </p:cNvCxnSpPr>
          <p:nvPr/>
        </p:nvCxnSpPr>
        <p:spPr>
          <a:xfrm rot="5400000" flipH="1" flipV="1">
            <a:off x="11066630" y="5836285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A9DC5E98-2B26-E1F6-3703-A8CF82CF8FE0}"/>
              </a:ext>
            </a:extLst>
          </p:cNvPr>
          <p:cNvCxnSpPr>
            <a:cxnSpLocks/>
            <a:stCxn id="33" idx="6"/>
            <a:endCxn id="33" idx="0"/>
          </p:cNvCxnSpPr>
          <p:nvPr/>
        </p:nvCxnSpPr>
        <p:spPr>
          <a:xfrm flipH="1" flipV="1">
            <a:off x="11066630" y="3842816"/>
            <a:ext cx="457200" cy="457200"/>
          </a:xfrm>
          <a:prstGeom prst="curvedConnector4">
            <a:avLst>
              <a:gd name="adj1" fmla="val -50000"/>
              <a:gd name="adj2" fmla="val 150000"/>
            </a:avLst>
          </a:prstGeom>
          <a:ln w="635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1" name="Straight Arrow Connector 2050">
            <a:extLst>
              <a:ext uri="{FF2B5EF4-FFF2-40B4-BE49-F238E27FC236}">
                <a16:creationId xmlns:a16="http://schemas.microsoft.com/office/drawing/2014/main" id="{EF6CD1E9-133B-C431-B56A-50D0F3438F4F}"/>
              </a:ext>
            </a:extLst>
          </p:cNvPr>
          <p:cNvCxnSpPr>
            <a:cxnSpLocks/>
            <a:stCxn id="33" idx="4"/>
            <a:endCxn id="34" idx="0"/>
          </p:cNvCxnSpPr>
          <p:nvPr/>
        </p:nvCxnSpPr>
        <p:spPr>
          <a:xfrm>
            <a:off x="11066630" y="4757216"/>
            <a:ext cx="0" cy="6218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5" name="Straight Arrow Connector 2054">
            <a:extLst>
              <a:ext uri="{FF2B5EF4-FFF2-40B4-BE49-F238E27FC236}">
                <a16:creationId xmlns:a16="http://schemas.microsoft.com/office/drawing/2014/main" id="{15EF6EBB-46E5-679F-BAB3-3E0A7B170AFA}"/>
              </a:ext>
            </a:extLst>
          </p:cNvPr>
          <p:cNvCxnSpPr>
            <a:cxnSpLocks/>
            <a:stCxn id="34" idx="7"/>
            <a:endCxn id="33" idx="5"/>
          </p:cNvCxnSpPr>
          <p:nvPr/>
        </p:nvCxnSpPr>
        <p:spPr>
          <a:xfrm flipV="1">
            <a:off x="11389919" y="4623305"/>
            <a:ext cx="0" cy="8896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8" name="TextBox 2057">
            <a:extLst>
              <a:ext uri="{FF2B5EF4-FFF2-40B4-BE49-F238E27FC236}">
                <a16:creationId xmlns:a16="http://schemas.microsoft.com/office/drawing/2014/main" id="{FE6C8C68-A36C-0979-25E7-9C6BCCD62039}"/>
              </a:ext>
            </a:extLst>
          </p:cNvPr>
          <p:cNvSpPr txBox="1"/>
          <p:nvPr/>
        </p:nvSpPr>
        <p:spPr>
          <a:xfrm>
            <a:off x="379601" y="601041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" panose="020B0604020202020204" pitchFamily="34" charset="0"/>
              </a:rPr>
              <a:t>Most (all?) things are Markovian.</a:t>
            </a:r>
          </a:p>
        </p:txBody>
      </p:sp>
    </p:spTree>
    <p:extLst>
      <p:ext uri="{BB962C8B-B14F-4D97-AF65-F5344CB8AC3E}">
        <p14:creationId xmlns:p14="http://schemas.microsoft.com/office/powerpoint/2010/main" val="2534271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E0520-96C8-FCDF-4432-BAA76321E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07C8C0-CE88-2DEA-AEA7-34BFD5FB7DE5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" panose="020B0604020202020204" pitchFamily="34" charset="0"/>
              </a:rPr>
              <a:t>Markov Chain </a:t>
            </a:r>
            <a:r>
              <a:rPr lang="en-US" sz="2800" b="1" dirty="0">
                <a:latin typeface="Helvetica" panose="020B0604020202020204" pitchFamily="34" charset="0"/>
              </a:rPr>
              <a:t>Monte Carlo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C30696-8933-6D48-6C58-8F688CA2F696}"/>
                  </a:ext>
                </a:extLst>
              </p:cNvPr>
              <p:cNvSpPr txBox="1"/>
              <p:nvPr/>
            </p:nvSpPr>
            <p:spPr>
              <a:xfrm>
                <a:off x="3547670" y="1072206"/>
                <a:ext cx="8450367" cy="4677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anose="020B0604020202020204" pitchFamily="34" charset="0"/>
                  </a:rPr>
                  <a:t>Repeated random sampling (i.e., brute force) to find an approximate solution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b="1" dirty="0">
                  <a:latin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Helvetica" panose="020B0604020202020204" pitchFamily="34" charset="0"/>
                  </a:rPr>
                  <a:t>e.g., what is the probability of rolling two sixes if I roll three dice?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34" charset="0"/>
                  </a:rPr>
                  <a:t>Well, we could roll three sixes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Helvetica" panose="020B0604020202020204" pitchFamily="34" charset="0"/>
                  </a:rPr>
                  <a:t>), or the first and second dice could be sixes and the third could be something else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Helvetica" panose="020B0604020202020204" pitchFamily="34" charset="0"/>
                  </a:rPr>
                  <a:t>, or the first and third dice could be sixes and the second could be something else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  <m:sup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Helvetica" panose="020B0604020202020204" pitchFamily="34" charset="0"/>
                  </a:rPr>
                  <a:t>, or the second and third dice could be sixes and the first could be something else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000" dirty="0">
                  <a:latin typeface="Helvetica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Helvetica" panose="020B0604020202020204" pitchFamily="34" charset="0"/>
                  </a:rPr>
                  <a:t>I could also just roll three dice thousands of times and approximate it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C30696-8933-6D48-6C58-8F688CA2F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7670" y="1072206"/>
                <a:ext cx="8450367" cy="4677627"/>
              </a:xfrm>
              <a:prstGeom prst="rect">
                <a:avLst/>
              </a:prstGeom>
              <a:blipFill>
                <a:blip r:embed="rId2"/>
                <a:stretch>
                  <a:fillRect l="-649" t="-652" r="-216" b="-1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F8E6DA-C148-CCA4-0D3F-9FAE9CF326E7}"/>
                  </a:ext>
                </a:extLst>
              </p:cNvPr>
              <p:cNvSpPr txBox="1"/>
              <p:nvPr/>
            </p:nvSpPr>
            <p:spPr>
              <a:xfrm>
                <a:off x="4793673" y="4703935"/>
                <a:ext cx="7398327" cy="6035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two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sixes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from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three</m:t>
                          </m:r>
                          <m: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rolls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lang="en-US" sz="1600" i="0" dirty="0">
                          <a:latin typeface="Helvetica" panose="020B0604020202020204" pitchFamily="34" charset="0"/>
                        </a:rPr>
                        <m:t>(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US" sz="16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=0.07407407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F8E6DA-C148-CCA4-0D3F-9FAE9CF32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673" y="4703935"/>
                <a:ext cx="7398327" cy="6035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DBA7F84-2219-A16C-C781-20C53F0758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01" y="1448059"/>
            <a:ext cx="3168069" cy="427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9320-6AE5-1DC9-324A-5EA9FC823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17B5E53-7368-CA50-7094-4F4D9AE60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8" y="2636530"/>
            <a:ext cx="4953000" cy="40862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926403-B1C9-7149-B045-8A277869AD69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We need a </a:t>
            </a:r>
            <a:r>
              <a:rPr lang="en-US" sz="2800" b="1" dirty="0">
                <a:solidFill>
                  <a:srgbClr val="7030A0"/>
                </a:solidFill>
                <a:latin typeface="Helvetica" panose="020B0604020202020204" pitchFamily="34" charset="0"/>
              </a:rPr>
              <a:t>prior</a:t>
            </a:r>
            <a:r>
              <a:rPr lang="en-US" sz="2800" b="1" dirty="0">
                <a:latin typeface="Helvetica" panose="020B0604020202020204" pitchFamily="34" charset="0"/>
              </a:rPr>
              <a:t>…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C21544A9-80D1-2E98-D4E5-6EC65023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FD3549-A60D-5A3E-6AA3-ABF682FEC13D}"/>
                  </a:ext>
                </a:extLst>
              </p:cNvPr>
              <p:cNvSpPr txBox="1"/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∝ℓ</m:t>
                      </m:r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DFD3549-A60D-5A3E-6AA3-ABF682FEC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56E41FD-A7F3-834D-90B5-BA2193FFCF73}"/>
              </a:ext>
            </a:extLst>
          </p:cNvPr>
          <p:cNvSpPr txBox="1"/>
          <p:nvPr/>
        </p:nvSpPr>
        <p:spPr>
          <a:xfrm>
            <a:off x="379601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  <a:latin typeface="Helvetica" panose="020B0604020202020204" pitchFamily="34" charset="0"/>
              </a:rPr>
              <a:t>Normal(0, 1)</a:t>
            </a:r>
          </a:p>
        </p:txBody>
      </p:sp>
    </p:spTree>
    <p:extLst>
      <p:ext uri="{BB962C8B-B14F-4D97-AF65-F5344CB8AC3E}">
        <p14:creationId xmlns:p14="http://schemas.microsoft.com/office/powerpoint/2010/main" val="1696093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35BC6-024E-D781-7FB3-A00672360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B1E4FEA-230F-FE96-81F8-C75DEA924035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To build a chain we have to start somewhere (initial value[s])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DF4C35D6-9FEE-8585-FBBC-308AF47E6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60266F-0757-1636-29E7-637599319564}"/>
                  </a:ext>
                </a:extLst>
              </p:cNvPr>
              <p:cNvSpPr txBox="1"/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∝ℓ</m:t>
                      </m:r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460266F-0757-1636-29E7-637599319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8FBC8A7-5962-BAD3-F873-147C02660536}"/>
              </a:ext>
            </a:extLst>
          </p:cNvPr>
          <p:cNvSpPr txBox="1"/>
          <p:nvPr/>
        </p:nvSpPr>
        <p:spPr>
          <a:xfrm>
            <a:off x="379601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</a:rPr>
              <a:t>Let’s start at 1 (remember, e</a:t>
            </a:r>
            <a:r>
              <a:rPr lang="en-US" sz="2800" baseline="30000" dirty="0">
                <a:latin typeface="Helvetica" panose="020B0604020202020204" pitchFamily="34" charset="0"/>
              </a:rPr>
              <a:t>1</a:t>
            </a:r>
            <a:r>
              <a:rPr lang="en-US" sz="2800" dirty="0">
                <a:latin typeface="Helvetica" panose="020B0604020202020204" pitchFamily="34" charset="0"/>
              </a:rPr>
              <a:t>)… why not?</a:t>
            </a:r>
          </a:p>
        </p:txBody>
      </p:sp>
    </p:spTree>
    <p:extLst>
      <p:ext uri="{BB962C8B-B14F-4D97-AF65-F5344CB8AC3E}">
        <p14:creationId xmlns:p14="http://schemas.microsoft.com/office/powerpoint/2010/main" val="1608253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BCAB7-C6BF-F162-5FDA-B02CC7279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42906-27C4-FBB1-E958-037784A5F990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To build a chain we have to start somewhere (initial value[s])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7DBE64F6-8A3C-107A-C324-9ED27D5C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8A852E-2EDB-36F2-CC7C-0C581C808A9D}"/>
                  </a:ext>
                </a:extLst>
              </p:cNvPr>
              <p:cNvSpPr txBox="1"/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∝ℓ</m:t>
                      </m:r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68A852E-2EDB-36F2-CC7C-0C581C808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89B57D-2CA4-A2F4-DFBE-A985BE9E50E2}"/>
              </a:ext>
            </a:extLst>
          </p:cNvPr>
          <p:cNvSpPr txBox="1"/>
          <p:nvPr/>
        </p:nvSpPr>
        <p:spPr>
          <a:xfrm>
            <a:off x="379601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</a:rPr>
              <a:t>First, we’ll calculate the </a:t>
            </a:r>
            <a:r>
              <a:rPr lang="en-US" sz="2800" dirty="0">
                <a:solidFill>
                  <a:srgbClr val="FF0000"/>
                </a:solidFill>
                <a:latin typeface="Helvetica" panose="020B0604020202020204" pitchFamily="34" charset="0"/>
              </a:rPr>
              <a:t>log-likelihood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264034-60AC-06B9-9EAE-D40F383B9C3E}"/>
              </a:ext>
            </a:extLst>
          </p:cNvPr>
          <p:cNvSpPr/>
          <p:nvPr/>
        </p:nvSpPr>
        <p:spPr>
          <a:xfrm>
            <a:off x="5089236" y="1439694"/>
            <a:ext cx="1828800" cy="7386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80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70D94-68D4-EC8E-DCF4-B8E642BE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AFB65B-412D-DBF5-7469-7ED53E7F18B0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Poisson log-likelihood </a:t>
            </a:r>
            <a:r>
              <a:rPr lang="en-US" sz="2800" dirty="0">
                <a:latin typeface="Helvetica" panose="020B0604020202020204" pitchFamily="34" charset="0"/>
              </a:rPr>
              <a:t>(a quick refresher or novel nosedive)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7AF07B-41F4-59DC-AE99-49E9CBF3375C}"/>
                  </a:ext>
                </a:extLst>
              </p:cNvPr>
              <p:cNvSpPr txBox="1"/>
              <p:nvPr/>
            </p:nvSpPr>
            <p:spPr>
              <a:xfrm>
                <a:off x="915310" y="1424756"/>
                <a:ext cx="8392619" cy="1344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e>
                      </m:nary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!)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D7AF07B-41F4-59DC-AE99-49E9CBF33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1424756"/>
                <a:ext cx="8392619" cy="13443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4A26B1-3C41-7CCE-D491-E41AD7360591}"/>
                  </a:ext>
                </a:extLst>
              </p:cNvPr>
              <p:cNvSpPr txBox="1"/>
              <p:nvPr/>
            </p:nvSpPr>
            <p:spPr>
              <a:xfrm>
                <a:off x="915310" y="3429000"/>
                <a:ext cx="4030218" cy="62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4A26B1-3C41-7CCE-D491-E41AD7360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3429000"/>
                <a:ext cx="4030218" cy="626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93AE064E-1574-A58C-97EA-461932AEA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090" y="3114238"/>
            <a:ext cx="4826332" cy="3419394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FCB42118-38EC-BEEB-E5F6-CD465DAA02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001" y="3498845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82DA3A-A900-0922-4FF9-A34A7CF83FA5}"/>
                  </a:ext>
                </a:extLst>
              </p:cNvPr>
              <p:cNvSpPr txBox="1"/>
              <p:nvPr/>
            </p:nvSpPr>
            <p:spPr>
              <a:xfrm>
                <a:off x="915310" y="5508658"/>
                <a:ext cx="482633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914</m:t>
                      </m:r>
                      <m:r>
                        <a:rPr lang="en-US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989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C82DA3A-A900-0922-4FF9-A34A7CF83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5508658"/>
                <a:ext cx="482633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001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D6A0-D3C6-9AA1-7CB4-4E0E7DC0C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95EAB3-7563-6CDE-2D8B-A52A007AA198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Poisson log-likelihood </a:t>
            </a:r>
            <a:r>
              <a:rPr lang="en-US" sz="2800" dirty="0">
                <a:latin typeface="Helvetica" panose="020B0604020202020204" pitchFamily="34" charset="0"/>
              </a:rPr>
              <a:t>(a quick refresher or novel nosedive)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BFA44-41CC-157C-F371-BC5510DB6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892" y="1616026"/>
            <a:ext cx="6090196" cy="4314825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267CEAD1-5F0B-816B-462B-C91DE1B2D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401" y="1908170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B49DDD-5505-D268-6F21-33060DE4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08" y="1447800"/>
            <a:ext cx="5637914" cy="465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18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3A277-9FF9-04F0-5FDF-6BCD6892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E16E20-5A90-BDC6-821F-68F5344D246C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To build a chain we have to start somewhere (initial value[s])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75D23C4A-16FB-C28B-E29F-1780FDB83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F03E26-D6EF-C90B-2650-BCA392CE9817}"/>
                  </a:ext>
                </a:extLst>
              </p:cNvPr>
              <p:cNvSpPr txBox="1"/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∝ℓ</m:t>
                      </m:r>
                      <m:d>
                        <m:dPr>
                          <m:ctrlPr>
                            <a:rPr lang="en-US" sz="4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F03E26-D6EF-C90B-2650-BCA392CE9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BA087BA-DD31-B5EB-548D-6CEE10B8C3CB}"/>
              </a:ext>
            </a:extLst>
          </p:cNvPr>
          <p:cNvSpPr txBox="1"/>
          <p:nvPr/>
        </p:nvSpPr>
        <p:spPr>
          <a:xfrm>
            <a:off x="379601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Helvetica" panose="020B0604020202020204" pitchFamily="34" charset="0"/>
              </a:rPr>
              <a:t>Then, we’ll calculate the </a:t>
            </a:r>
            <a:r>
              <a:rPr lang="en-US" sz="2800" b="1" dirty="0">
                <a:solidFill>
                  <a:srgbClr val="7030A0"/>
                </a:solidFill>
                <a:latin typeface="Helvetica" panose="020B0604020202020204" pitchFamily="34" charset="0"/>
              </a:rPr>
              <a:t>log of the prior probability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792DD-6ED4-6CD9-419A-EB7B195EA073}"/>
              </a:ext>
            </a:extLst>
          </p:cNvPr>
          <p:cNvSpPr/>
          <p:nvPr/>
        </p:nvSpPr>
        <p:spPr>
          <a:xfrm>
            <a:off x="7527636" y="1458166"/>
            <a:ext cx="1336330" cy="73866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989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761D5-472C-F37E-5650-A72C04C7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77B170-07A6-7EE8-CC48-619A49AABDBE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Normal log-likelihood </a:t>
            </a:r>
            <a:r>
              <a:rPr lang="en-US" sz="2800" dirty="0">
                <a:latin typeface="Helvetica" panose="020B0604020202020204" pitchFamily="34" charset="0"/>
              </a:rPr>
              <a:t>(a quick refresher or novel nosedive)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52EA0C-40AB-BD10-A1F5-A62D0C2CFE7D}"/>
                  </a:ext>
                </a:extLst>
              </p:cNvPr>
              <p:cNvSpPr txBox="1"/>
              <p:nvPr/>
            </p:nvSpPr>
            <p:spPr>
              <a:xfrm>
                <a:off x="915310" y="1424756"/>
                <a:ext cx="5961312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052EA0C-40AB-BD10-A1F5-A62D0C2CF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1424756"/>
                <a:ext cx="5961312" cy="988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860E6E-659D-7ECB-FB99-3795816D5D6D}"/>
                  </a:ext>
                </a:extLst>
              </p:cNvPr>
              <p:cNvSpPr txBox="1"/>
              <p:nvPr/>
            </p:nvSpPr>
            <p:spPr>
              <a:xfrm>
                <a:off x="915310" y="3429000"/>
                <a:ext cx="403021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0860E6E-659D-7ECB-FB99-3795816D5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3429000"/>
                <a:ext cx="403021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FCF3A91-AC72-D3DC-1924-C75ABD0321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090" y="3114238"/>
            <a:ext cx="4826332" cy="3419394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0FC5DA02-B130-FE24-D403-D1B9347689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001" y="3498845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89DEA-0EF2-364E-500D-4C1A437CDEF0}"/>
                  </a:ext>
                </a:extLst>
              </p:cNvPr>
              <p:cNvSpPr txBox="1"/>
              <p:nvPr/>
            </p:nvSpPr>
            <p:spPr>
              <a:xfrm>
                <a:off x="7267347" y="1503335"/>
                <a:ext cx="518069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𝑙</m:t>
                          </m:r>
                        </m:fName>
                        <m:e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4800" b="0" i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419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EB89DEA-0EF2-364E-500D-4C1A437CD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347" y="1503335"/>
                <a:ext cx="518069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043539C-2F62-2918-00D6-F6A3F2A71B93}"/>
              </a:ext>
            </a:extLst>
          </p:cNvPr>
          <p:cNvSpPr txBox="1"/>
          <p:nvPr/>
        </p:nvSpPr>
        <p:spPr>
          <a:xfrm>
            <a:off x="379601" y="601041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" panose="020B0604020202020204" pitchFamily="34" charset="0"/>
              </a:rPr>
              <a:t>Remember, our prior is Normal(0, 1)</a:t>
            </a:r>
          </a:p>
        </p:txBody>
      </p:sp>
    </p:spTree>
    <p:extLst>
      <p:ext uri="{BB962C8B-B14F-4D97-AF65-F5344CB8AC3E}">
        <p14:creationId xmlns:p14="http://schemas.microsoft.com/office/powerpoint/2010/main" val="2731495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3F3E-712E-4813-4B4A-8EFB9AFC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44EB19-346F-653D-1EAE-6615B5958728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The log-posterior for our initial value is…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6F976A4D-0060-6231-C49F-4C4A11551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CB5107-017D-977D-1A6F-B85E19B3D518}"/>
                  </a:ext>
                </a:extLst>
              </p:cNvPr>
              <p:cNvSpPr txBox="1"/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sz="4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4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4800" i="1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8CB5107-017D-977D-1A6F-B85E19B3D5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064" y="1439694"/>
                <a:ext cx="6293902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5C294-B183-7636-50A8-5D594B2939EA}"/>
                  </a:ext>
                </a:extLst>
              </p:cNvPr>
              <p:cNvSpPr txBox="1"/>
              <p:nvPr/>
            </p:nvSpPr>
            <p:spPr>
              <a:xfrm>
                <a:off x="1430428" y="2801325"/>
                <a:ext cx="750532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−1914.99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1.419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75C294-B183-7636-50A8-5D594B2939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428" y="2801325"/>
                <a:ext cx="7505324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551BCE0-360D-A986-E12F-097E1782BA82}"/>
              </a:ext>
            </a:extLst>
          </p:cNvPr>
          <p:cNvSpPr txBox="1"/>
          <p:nvPr/>
        </p:nvSpPr>
        <p:spPr>
          <a:xfrm>
            <a:off x="379601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latin typeface="Helvetica" panose="020B0604020202020204" pitchFamily="34" charset="0"/>
              </a:rPr>
              <a:t>Contribution of data is 1350x that of prior…</a:t>
            </a:r>
          </a:p>
        </p:txBody>
      </p:sp>
    </p:spTree>
    <p:extLst>
      <p:ext uri="{BB962C8B-B14F-4D97-AF65-F5344CB8AC3E}">
        <p14:creationId xmlns:p14="http://schemas.microsoft.com/office/powerpoint/2010/main" val="711124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1E07C-0A71-7642-73F9-4BF9EC44B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9EF9A3-50A4-C89B-F84F-57905DB91042}"/>
              </a:ext>
            </a:extLst>
          </p:cNvPr>
          <p:cNvSpPr txBox="1"/>
          <p:nvPr/>
        </p:nvSpPr>
        <p:spPr>
          <a:xfrm>
            <a:off x="375756" y="2033534"/>
            <a:ext cx="1144048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Helvetica" panose="020B0604020202020204" pitchFamily="34" charset="0"/>
              </a:rPr>
              <a:t>That’s where we’re starting.</a:t>
            </a:r>
          </a:p>
          <a:p>
            <a:pPr algn="ctr"/>
            <a:endParaRPr lang="en-US" sz="2800" b="1" dirty="0">
              <a:latin typeface="Helvetica" panose="020B0604020202020204" pitchFamily="34" charset="0"/>
            </a:endParaRPr>
          </a:p>
          <a:p>
            <a:pPr algn="ctr"/>
            <a:r>
              <a:rPr lang="en-US" sz="2800" b="1" dirty="0">
                <a:latin typeface="Helvetica" panose="020B0604020202020204" pitchFamily="34" charset="0"/>
              </a:rPr>
              <a:t>We tried 1. It wasn’t great. </a:t>
            </a:r>
          </a:p>
          <a:p>
            <a:pPr algn="ctr"/>
            <a:endParaRPr lang="en-US" sz="2800" b="1" dirty="0">
              <a:latin typeface="Helvetica" panose="020B0604020202020204" pitchFamily="34" charset="0"/>
            </a:endParaRPr>
          </a:p>
          <a:p>
            <a:pPr algn="ctr"/>
            <a:r>
              <a:rPr lang="en-US" sz="2800" b="1" dirty="0">
                <a:latin typeface="Helvetica" panose="020B0604020202020204" pitchFamily="34" charset="0"/>
              </a:rPr>
              <a:t>We need 10k numbers. Let’s try again.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43C668AD-3D26-AD34-3595-BDD1BE962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9380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502C3-BBF6-33CC-28B0-0BC0204AD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7E068A-C43E-F258-AF28-2025E55CE66B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From that initial value, we will sample a candidate for inclusion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95C5F9E9-BC17-5001-58BA-4F493E5C53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A6ADD-C8FA-D05D-2D92-E7F396726E7C}"/>
                  </a:ext>
                </a:extLst>
              </p:cNvPr>
              <p:cNvSpPr txBox="1"/>
              <p:nvPr/>
            </p:nvSpPr>
            <p:spPr>
              <a:xfrm>
                <a:off x="4460937" y="3182778"/>
                <a:ext cx="3270126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Normal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1EA6ADD-C8FA-D05D-2D92-E7F396726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937" y="3182778"/>
                <a:ext cx="327012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03B6AE9D-1AC2-D19B-4212-E4DFC0FB3DB7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Let’s imagine we sampled the number 2</a:t>
            </a:r>
          </a:p>
        </p:txBody>
      </p:sp>
    </p:spTree>
    <p:extLst>
      <p:ext uri="{BB962C8B-B14F-4D97-AF65-F5344CB8AC3E}">
        <p14:creationId xmlns:p14="http://schemas.microsoft.com/office/powerpoint/2010/main" val="3756810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936D5-6776-CE96-D1D0-928379B7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9D1031-91D0-E50A-AE16-0C4062B4CE91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Poisson log-likelihood </a:t>
            </a:r>
            <a:r>
              <a:rPr lang="en-US" sz="2800" dirty="0">
                <a:latin typeface="Helvetica" panose="020B0604020202020204" pitchFamily="34" charset="0"/>
              </a:rPr>
              <a:t>(but now </a:t>
            </a:r>
            <a:r>
              <a:rPr lang="el-GR" sz="2800" dirty="0">
                <a:latin typeface="Helvetica" panose="020B0604020202020204" pitchFamily="34" charset="0"/>
              </a:rPr>
              <a:t>θ</a:t>
            </a:r>
            <a:r>
              <a:rPr lang="en-US" sz="2800" dirty="0">
                <a:latin typeface="Helvetica" panose="020B0604020202020204" pitchFamily="34" charset="0"/>
              </a:rPr>
              <a:t> = 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A04885-2FC6-5ED9-9C92-516C7C98FBD8}"/>
                  </a:ext>
                </a:extLst>
              </p:cNvPr>
              <p:cNvSpPr txBox="1"/>
              <p:nvPr/>
            </p:nvSpPr>
            <p:spPr>
              <a:xfrm>
                <a:off x="915310" y="1424756"/>
                <a:ext cx="8392619" cy="13443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e>
                      </m:nary>
                      <m:func>
                        <m:func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!)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CA04885-2FC6-5ED9-9C92-516C7C98F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1424756"/>
                <a:ext cx="8392619" cy="134434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B070CD-CDCC-5A01-CD41-25111198D7E9}"/>
                  </a:ext>
                </a:extLst>
              </p:cNvPr>
              <p:cNvSpPr txBox="1"/>
              <p:nvPr/>
            </p:nvSpPr>
            <p:spPr>
              <a:xfrm>
                <a:off x="915310" y="3429000"/>
                <a:ext cx="4030218" cy="626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p>
                      </m:sSup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B070CD-CDCC-5A01-CD41-25111198D7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3429000"/>
                <a:ext cx="4030218" cy="6269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36EE0C39-B756-8CE7-675D-27C2C8541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090" y="3114238"/>
            <a:ext cx="4826332" cy="3419394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68AFB246-FA6E-4FB3-F6A1-88C4417637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001" y="3498845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A5F3DA-3F1F-444E-B955-25DAC790B51E}"/>
                  </a:ext>
                </a:extLst>
              </p:cNvPr>
              <p:cNvSpPr txBox="1"/>
              <p:nvPr/>
            </p:nvSpPr>
            <p:spPr>
              <a:xfrm>
                <a:off x="915310" y="5508658"/>
                <a:ext cx="482633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216.4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A5F3DA-3F1F-444E-B955-25DAC790B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5508658"/>
                <a:ext cx="482633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2832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DCE17-B86A-9695-0B02-446D593D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295A4B-0713-CEBF-9FEB-9B0F8FBCC0C6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Poisson log-likelihood </a:t>
            </a:r>
            <a:r>
              <a:rPr lang="en-US" sz="2800" dirty="0">
                <a:latin typeface="Helvetica" panose="020B0604020202020204" pitchFamily="34" charset="0"/>
              </a:rPr>
              <a:t>(a quick refresher or novel nosedive)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727AC1-0176-AE22-73F1-E2BA7AEE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9892" y="1616026"/>
            <a:ext cx="6090196" cy="4314825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B39AB4D7-F848-9D73-3E2B-0B9103083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401" y="1908170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15EB83-2020-7240-7353-06DC7B743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208" y="1447800"/>
            <a:ext cx="5637914" cy="465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3412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9DF3-6012-06A8-1E4D-604C5BB6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E026E5-50AC-D813-20E5-868097BEA6A3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Normal log-likelihood </a:t>
            </a:r>
            <a:r>
              <a:rPr lang="en-US" sz="2800" dirty="0">
                <a:latin typeface="Helvetica" panose="020B0604020202020204" pitchFamily="34" charset="0"/>
              </a:rPr>
              <a:t>(a quick refresher or novel nosedive)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69666-A3D4-4F92-4C2B-9DC37A5E9A2A}"/>
                  </a:ext>
                </a:extLst>
              </p:cNvPr>
              <p:cNvSpPr txBox="1"/>
              <p:nvPr/>
            </p:nvSpPr>
            <p:spPr>
              <a:xfrm>
                <a:off x="915310" y="1424756"/>
                <a:ext cx="5961312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fName>
                        <m:e>
                          <m:d>
                            <m:dPr>
                              <m:ctrlPr>
                                <a:rPr lang="en-US" sz="3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32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3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32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669666-A3D4-4F92-4C2B-9DC37A5E9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1424756"/>
                <a:ext cx="5961312" cy="988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154DF-592B-3445-D0A6-3C24B2F81A88}"/>
                  </a:ext>
                </a:extLst>
              </p:cNvPr>
              <p:cNvSpPr txBox="1"/>
              <p:nvPr/>
            </p:nvSpPr>
            <p:spPr>
              <a:xfrm>
                <a:off x="915310" y="3429000"/>
                <a:ext cx="403021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154DF-592B-3445-D0A6-3C24B2F81A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10" y="3429000"/>
                <a:ext cx="4030218" cy="1569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0E21EA9-24B8-CFFA-D51D-9BE2714A1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090" y="3114238"/>
            <a:ext cx="4826332" cy="3419394"/>
          </a:xfrm>
          <a:prstGeom prst="rect">
            <a:avLst/>
          </a:prstGeom>
        </p:spPr>
      </p:pic>
      <p:pic>
        <p:nvPicPr>
          <p:cNvPr id="10" name="Picture 9" descr="wapiti lake wolf pack in Yellowstone">
            <a:extLst>
              <a:ext uri="{FF2B5EF4-FFF2-40B4-BE49-F238E27FC236}">
                <a16:creationId xmlns:a16="http://schemas.microsoft.com/office/drawing/2014/main" id="{D328B268-4198-6F87-EC77-1B8AEE4D9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5001" y="3498845"/>
            <a:ext cx="1782791" cy="11142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682901-96EB-43E3-C5E7-5EE9C2AD62D1}"/>
                  </a:ext>
                </a:extLst>
              </p:cNvPr>
              <p:cNvSpPr txBox="1"/>
              <p:nvPr/>
            </p:nvSpPr>
            <p:spPr>
              <a:xfrm>
                <a:off x="7267347" y="1503335"/>
                <a:ext cx="518069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800" i="1">
                              <a:latin typeface="Cambria Math" panose="02040503050406030204" pitchFamily="18" charset="0"/>
                            </a:rPr>
                            <m:t>𝑙</m:t>
                          </m:r>
                        </m:fName>
                        <m:e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sz="4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2.919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682901-96EB-43E3-C5E7-5EE9C2AD6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347" y="1503335"/>
                <a:ext cx="5180690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CD02077-0CA7-FB6E-2360-46DE7C9257AF}"/>
              </a:ext>
            </a:extLst>
          </p:cNvPr>
          <p:cNvSpPr txBox="1"/>
          <p:nvPr/>
        </p:nvSpPr>
        <p:spPr>
          <a:xfrm>
            <a:off x="379601" y="601041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Helvetica" panose="020B0604020202020204" pitchFamily="34" charset="0"/>
              </a:rPr>
              <a:t>Remember, our prior is Normal(0, 1)</a:t>
            </a:r>
          </a:p>
        </p:txBody>
      </p:sp>
    </p:spTree>
    <p:extLst>
      <p:ext uri="{BB962C8B-B14F-4D97-AF65-F5344CB8AC3E}">
        <p14:creationId xmlns:p14="http://schemas.microsoft.com/office/powerpoint/2010/main" val="50962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0F1B-EFB1-C62F-31A2-573E72068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180477-E2BC-C748-8B8D-AF488F42FD82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We will assess the ‘value’ of that new proposal, or candidate…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007654DF-9F35-6FDF-8B8B-019EC38DF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6902F1-5D54-BD9C-4348-448168A8ADBA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Via its log-posterior relative to the previous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3C4F1-58CC-9E68-5C6A-6A5EF8887605}"/>
                  </a:ext>
                </a:extLst>
              </p:cNvPr>
              <p:cNvSpPr txBox="1"/>
              <p:nvPr/>
            </p:nvSpPr>
            <p:spPr>
              <a:xfrm>
                <a:off x="1439572" y="1779053"/>
                <a:ext cx="864884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−1914.99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1.419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C3C4F1-58CC-9E68-5C6A-6A5EF8887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572" y="1779053"/>
                <a:ext cx="864884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799B6C-BE68-D14E-3196-C792847A29BB}"/>
                  </a:ext>
                </a:extLst>
              </p:cNvPr>
              <p:cNvSpPr txBox="1"/>
              <p:nvPr/>
            </p:nvSpPr>
            <p:spPr>
              <a:xfrm>
                <a:off x="1439572" y="2862954"/>
                <a:ext cx="890282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US" sz="48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216.38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2.919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2799B6C-BE68-D14E-3196-C792847A2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572" y="2862954"/>
                <a:ext cx="8902822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8692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1B14A-978A-D831-3F77-482B10A9D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CE21499-7B68-ECD7-E52D-644567C8FA2B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We will assess the ‘value’ of that new proposal, or candidate…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23F827FB-C43C-5C1F-7BE9-B7E9F393F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E67280-B76D-5B17-BEBF-263E0526D104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Via its log-posterior relative to the previous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6458D2-90AA-C84E-2014-46964F2FA590}"/>
                  </a:ext>
                </a:extLst>
              </p:cNvPr>
              <p:cNvSpPr txBox="1"/>
              <p:nvPr/>
            </p:nvSpPr>
            <p:spPr>
              <a:xfrm>
                <a:off x="1439572" y="1166405"/>
                <a:ext cx="864884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−1914.99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1.419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6458D2-90AA-C84E-2014-46964F2FA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572" y="1166405"/>
                <a:ext cx="8648843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C7E0D7-EB39-B6F9-7658-D0F57D3DA28C}"/>
                  </a:ext>
                </a:extLst>
              </p:cNvPr>
              <p:cNvSpPr txBox="1"/>
              <p:nvPr/>
            </p:nvSpPr>
            <p:spPr>
              <a:xfrm>
                <a:off x="1439572" y="2250306"/>
                <a:ext cx="864884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4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216.38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48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2.919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4C7E0D7-EB39-B6F9-7658-D0F57D3D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572" y="2250306"/>
                <a:ext cx="8648843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19210B-4CA4-E58A-6043-1B3C93ADA5EB}"/>
                  </a:ext>
                </a:extLst>
              </p:cNvPr>
              <p:cNvSpPr txBox="1"/>
              <p:nvPr/>
            </p:nvSpPr>
            <p:spPr>
              <a:xfrm>
                <a:off x="1983182" y="3740999"/>
                <a:ext cx="7561622" cy="889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19210B-4CA4-E58A-6043-1B3C93ADA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182" y="3740999"/>
                <a:ext cx="7561622" cy="88909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72609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683AE-F612-1E6A-B194-A694B8919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2D569F0-5179-CB1E-8C6F-AACE74158119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Let’s dig into </a:t>
            </a:r>
            <a:r>
              <a:rPr lang="en-US" sz="2800" b="1" i="1" dirty="0">
                <a:latin typeface="Helvetica" panose="020B0604020202020204" pitchFamily="34" charset="0"/>
              </a:rPr>
              <a:t>r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A363F9CE-EC1C-E907-BA6B-C3193BA16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0D4C9-33AF-D3A5-ED5F-F7F3990BB0C8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Via its log-posterior relative to the previous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5C1F6-B542-3774-5FC5-8CAFDF2B755C}"/>
                  </a:ext>
                </a:extLst>
              </p:cNvPr>
              <p:cNvSpPr txBox="1"/>
              <p:nvPr/>
            </p:nvSpPr>
            <p:spPr>
              <a:xfrm>
                <a:off x="1855166" y="1290407"/>
                <a:ext cx="7561622" cy="889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=2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65C1F6-B542-3774-5FC5-8CAFDF2B7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66" y="1290407"/>
                <a:ext cx="7561622" cy="889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94E5B0-23B2-21F4-DF60-0B5B1AFC3B05}"/>
                  </a:ext>
                </a:extLst>
              </p:cNvPr>
              <p:cNvSpPr txBox="1"/>
              <p:nvPr/>
            </p:nvSpPr>
            <p:spPr>
              <a:xfrm>
                <a:off x="1256692" y="2460438"/>
                <a:ext cx="676428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916.408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94E5B0-23B2-21F4-DF60-0B5B1AFC3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92" y="2460438"/>
                <a:ext cx="6764288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8F3821-F637-7495-F212-669BA61A518A}"/>
                  </a:ext>
                </a:extLst>
              </p:cNvPr>
              <p:cNvSpPr txBox="1"/>
              <p:nvPr/>
            </p:nvSpPr>
            <p:spPr>
              <a:xfrm>
                <a:off x="1256692" y="3544339"/>
                <a:ext cx="676428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−121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9.295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88F3821-F637-7495-F212-669BA61A5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92" y="3544339"/>
                <a:ext cx="6764288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5758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0B5E9-A1FC-13FE-4BEC-B714333C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1D99D7-E46B-1A05-F460-FA2E4A917C55}"/>
              </a:ext>
            </a:extLst>
          </p:cNvPr>
          <p:cNvSpPr txBox="1"/>
          <p:nvPr/>
        </p:nvSpPr>
        <p:spPr>
          <a:xfrm>
            <a:off x="379601" y="293507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Let’s dig into </a:t>
            </a:r>
            <a:r>
              <a:rPr lang="en-US" sz="2800" b="1" i="1" dirty="0">
                <a:latin typeface="Helvetica" panose="020B0604020202020204" pitchFamily="34" charset="0"/>
              </a:rPr>
              <a:t>r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612BDB5B-92F3-32E6-9447-80BFAEF7E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AFCD26-900A-FF81-6C94-DEFC9299EC40}"/>
              </a:ext>
            </a:extLst>
          </p:cNvPr>
          <p:cNvSpPr txBox="1"/>
          <p:nvPr/>
        </p:nvSpPr>
        <p:spPr>
          <a:xfrm>
            <a:off x="375756" y="6041273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Via its log-posterior relative to the previous sample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61836A-8717-7B54-307A-7C6E1265B37C}"/>
                  </a:ext>
                </a:extLst>
              </p:cNvPr>
              <p:cNvSpPr txBox="1"/>
              <p:nvPr/>
            </p:nvSpPr>
            <p:spPr>
              <a:xfrm>
                <a:off x="1855166" y="1290407"/>
                <a:ext cx="5274584" cy="889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61836A-8717-7B54-307A-7C6E1265B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66" y="1290407"/>
                <a:ext cx="5274584" cy="8890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69894B-D528-1251-38A0-D7633EA62631}"/>
                  </a:ext>
                </a:extLst>
              </p:cNvPr>
              <p:cNvSpPr txBox="1"/>
              <p:nvPr/>
            </p:nvSpPr>
            <p:spPr>
              <a:xfrm>
                <a:off x="1256692" y="2460438"/>
                <a:ext cx="676428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916.408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269894B-D528-1251-38A0-D7633EA626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92" y="2460438"/>
                <a:ext cx="6764288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714A7E-7999-7A35-DB9A-990AD14B72E3}"/>
                  </a:ext>
                </a:extLst>
              </p:cNvPr>
              <p:cNvSpPr txBox="1"/>
              <p:nvPr/>
            </p:nvSpPr>
            <p:spPr>
              <a:xfrm>
                <a:off x="1256692" y="3544339"/>
                <a:ext cx="676428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=2</m:t>
                          </m:r>
                        </m:e>
                        <m:e>
                          <m:r>
                            <a:rPr lang="en-US" sz="4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−121</m:t>
                      </m:r>
                      <m:r>
                        <a:rPr lang="en-US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9.295</m:t>
                      </m:r>
                    </m:oMath>
                  </m:oMathPara>
                </a14:m>
                <a:endParaRPr lang="en-US" sz="48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A714A7E-7999-7A35-DB9A-990AD14B7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692" y="3544339"/>
                <a:ext cx="6764288" cy="7386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5406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66CDC-9AED-6674-5985-93869722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C10D9A-A365-D7D2-C3E1-E34A418D5D61}"/>
              </a:ext>
            </a:extLst>
          </p:cNvPr>
          <p:cNvSpPr txBox="1"/>
          <p:nvPr/>
        </p:nvSpPr>
        <p:spPr>
          <a:xfrm>
            <a:off x="379601" y="1155849"/>
            <a:ext cx="110442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r &gt; 1, accept proposed </a:t>
            </a:r>
            <a:r>
              <a:rPr lang="el-GR" sz="3200" dirty="0"/>
              <a:t>θ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1 &gt; r &gt; 0, draw a random number between 0 and 1. If r is greater than that random number, accept proposed </a:t>
            </a:r>
            <a:r>
              <a:rPr lang="el-GR" sz="3200" dirty="0"/>
              <a:t>θ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it isn’t, then </a:t>
            </a:r>
            <a:r>
              <a:rPr lang="el-GR" sz="3200" dirty="0"/>
              <a:t>θ</a:t>
            </a:r>
            <a:r>
              <a:rPr lang="en-US" sz="3200" baseline="-25000" dirty="0" err="1"/>
              <a:t>i</a:t>
            </a:r>
            <a:r>
              <a:rPr lang="en-US" sz="3200" dirty="0"/>
              <a:t> = </a:t>
            </a:r>
            <a:r>
              <a:rPr lang="el-GR" sz="3200" dirty="0"/>
              <a:t>θ</a:t>
            </a:r>
            <a:r>
              <a:rPr lang="en-US" sz="3200" baseline="-25000" dirty="0"/>
              <a:t>i-1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‘Good’ acceptance rate(s) are 25-40% (Gelman et al. 2014)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Why?!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796564-614E-2841-E3F4-C6E5E4B3D75D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Acceptance rate (ideally approx. 1 out of 3)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F018FF-0ADE-B530-891F-2E50E6BE492B}"/>
                  </a:ext>
                </a:extLst>
              </p:cNvPr>
              <p:cNvSpPr txBox="1"/>
              <p:nvPr/>
            </p:nvSpPr>
            <p:spPr>
              <a:xfrm>
                <a:off x="6545504" y="5728062"/>
                <a:ext cx="5274584" cy="8890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</m:t>
                      </m:r>
                      <m:r>
                        <a:rPr lang="en-US" sz="4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4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p>
                                  <m:r>
                                    <a:rPr lang="en-US" sz="48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4800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4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ℓ</m:t>
                          </m:r>
                          <m:d>
                            <m:dPr>
                              <m:ctrlPr>
                                <a:rPr lang="en-US" sz="4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US" sz="4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4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F018FF-0ADE-B530-891F-2E50E6BE4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5504" y="5728062"/>
                <a:ext cx="5274584" cy="8890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3147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65B7A-13BD-585C-7DC7-F44AB9AD1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D2384E-D273-4768-BE37-397B035A8ED3}"/>
              </a:ext>
            </a:extLst>
          </p:cNvPr>
          <p:cNvSpPr txBox="1"/>
          <p:nvPr/>
        </p:nvSpPr>
        <p:spPr>
          <a:xfrm>
            <a:off x="375756" y="3167390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Helvetica" panose="020B0604020202020204" pitchFamily="34" charset="0"/>
              </a:rPr>
              <a:t>We’ll do that again… and again…</a:t>
            </a:r>
          </a:p>
        </p:txBody>
      </p:sp>
      <p:pic>
        <p:nvPicPr>
          <p:cNvPr id="2" name="Picture 1" descr="wapiti lake wolf pack in Yellowstone">
            <a:extLst>
              <a:ext uri="{FF2B5EF4-FFF2-40B4-BE49-F238E27FC236}">
                <a16:creationId xmlns:a16="http://schemas.microsoft.com/office/drawing/2014/main" id="{CC7BD902-9DC0-467D-FE05-55D48120B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240" y="4957372"/>
            <a:ext cx="2701442" cy="168840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30730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6D72-EF52-F384-EAF4-7A827143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43885B-1AC6-1C67-83B5-CF96A6A18428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The red points are our posterior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4DF31-BBB7-3F29-58D5-954EFEDA5A29}"/>
              </a:ext>
            </a:extLst>
          </p:cNvPr>
          <p:cNvSpPr txBox="1"/>
          <p:nvPr/>
        </p:nvSpPr>
        <p:spPr>
          <a:xfrm>
            <a:off x="379601" y="606582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The black points are all our proposed (i.e., candidate) values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7B436D-B8D0-FF7D-E3FA-82659DF7D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359" y="981456"/>
            <a:ext cx="5637914" cy="46512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228204-9D66-B385-362A-FB62CBB2D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1" y="1261841"/>
            <a:ext cx="5295900" cy="43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248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7F62-4880-C556-9033-DB95A231B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A1264C-8D6F-A242-E874-E56967EE911D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What about burn-in?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B8124A-F3E4-634D-A7F4-D4B961B764EC}"/>
              </a:ext>
            </a:extLst>
          </p:cNvPr>
          <p:cNvSpPr txBox="1"/>
          <p:nvPr/>
        </p:nvSpPr>
        <p:spPr>
          <a:xfrm>
            <a:off x="379601" y="606582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We could ignore the first X% while the chain converges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0B76DC-C56B-4A1C-1522-4CB89660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385887"/>
            <a:ext cx="49530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93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7645D-A8C9-2D94-80FA-E0D3F0A6E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E664DD-7418-DC6F-A5E1-F245FED561ED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What about burn-in? Here, we burn the first 1000 samples…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67AF4-DDF3-2BE8-BA78-33E32EADDCC9}"/>
              </a:ext>
            </a:extLst>
          </p:cNvPr>
          <p:cNvSpPr txBox="1"/>
          <p:nvPr/>
        </p:nvSpPr>
        <p:spPr>
          <a:xfrm>
            <a:off x="379601" y="606582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This effectively just gets rid of the ‘finding out’ phase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DFFAF1-08B1-F95B-A147-1C67162E3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683" y="1182147"/>
            <a:ext cx="5446915" cy="449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57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64644-2178-C4F7-E520-0C6108870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D3B33D-CFB6-4FB3-A5DE-4890E9EFD1CA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What about thinning?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5CF9C-13E3-AB23-517E-DB1D8DACF3A1}"/>
              </a:ext>
            </a:extLst>
          </p:cNvPr>
          <p:cNvSpPr txBox="1"/>
          <p:nvPr/>
        </p:nvSpPr>
        <p:spPr>
          <a:xfrm>
            <a:off x="379601" y="606582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Remember, if the candidate is not accepted, then </a:t>
            </a:r>
            <a:r>
              <a:rPr lang="el-GR" sz="2800" b="1" dirty="0">
                <a:latin typeface="Helvetica" panose="020B0604020202020204" pitchFamily="34" charset="0"/>
              </a:rPr>
              <a:t>θ</a:t>
            </a:r>
            <a:r>
              <a:rPr lang="en-US" sz="2800" b="1" baseline="-25000" dirty="0">
                <a:latin typeface="Helvetica" panose="020B0604020202020204" pitchFamily="34" charset="0"/>
              </a:rPr>
              <a:t>t</a:t>
            </a:r>
            <a:r>
              <a:rPr lang="en-US" sz="2800" b="1" dirty="0">
                <a:latin typeface="Helvetica" panose="020B0604020202020204" pitchFamily="34" charset="0"/>
              </a:rPr>
              <a:t> =</a:t>
            </a:r>
            <a:r>
              <a:rPr lang="el-GR" sz="2800" b="1" dirty="0">
                <a:latin typeface="Helvetica" panose="020B0604020202020204" pitchFamily="34" charset="0"/>
              </a:rPr>
              <a:t> θ</a:t>
            </a:r>
            <a:r>
              <a:rPr lang="en-US" sz="2800" b="1" baseline="-25000" dirty="0">
                <a:latin typeface="Helvetica" panose="020B0604020202020204" pitchFamily="34" charset="0"/>
              </a:rPr>
              <a:t>t-1</a:t>
            </a:r>
            <a:endParaRPr lang="en-US" sz="2800" b="1" dirty="0">
              <a:latin typeface="Helvetica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7AEB4-3850-3CEB-AF94-59A476FA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261841"/>
            <a:ext cx="5295901" cy="43691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FA05FD-E6FA-4A75-7C5F-6ACB92299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01" y="1261841"/>
            <a:ext cx="5295900" cy="4369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515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75AFD-4100-3A38-2DB0-E2592FFF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6F2231-96B0-6AE1-FCB9-E38799E7E456}"/>
              </a:ext>
            </a:extLst>
          </p:cNvPr>
          <p:cNvSpPr txBox="1"/>
          <p:nvPr/>
        </p:nvSpPr>
        <p:spPr>
          <a:xfrm>
            <a:off x="379601" y="1155849"/>
            <a:ext cx="1104423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r &gt; 1, accept proposed </a:t>
            </a:r>
            <a:r>
              <a:rPr lang="el-GR" sz="3200" dirty="0"/>
              <a:t>α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1 &gt; r &gt; 0, draw a random number between 0 and 1. If r is greater than that random number, accept proposed </a:t>
            </a:r>
            <a:r>
              <a:rPr lang="el-GR" sz="3200" dirty="0"/>
              <a:t>α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If it isn’t, then </a:t>
            </a:r>
            <a:r>
              <a:rPr lang="el-GR" sz="3200" dirty="0"/>
              <a:t>α</a:t>
            </a:r>
            <a:r>
              <a:rPr lang="en-US" sz="3200" baseline="-25000" dirty="0" err="1"/>
              <a:t>i</a:t>
            </a:r>
            <a:r>
              <a:rPr lang="en-US" sz="3200" dirty="0"/>
              <a:t> = </a:t>
            </a:r>
            <a:r>
              <a:rPr lang="el-GR" sz="3200" dirty="0"/>
              <a:t>α</a:t>
            </a:r>
            <a:r>
              <a:rPr lang="en-US" sz="3200" baseline="-25000" dirty="0"/>
              <a:t>i-1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‘Good’ acceptance rate(s) are 25-40% (Gelman et al. 2014)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Why?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E5312F-1B2E-D3C4-28DC-0B0F68017428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Acceptance rate (we want approximately 1 out of 3)</a:t>
            </a:r>
          </a:p>
        </p:txBody>
      </p:sp>
    </p:spTree>
    <p:extLst>
      <p:ext uri="{BB962C8B-B14F-4D97-AF65-F5344CB8AC3E}">
        <p14:creationId xmlns:p14="http://schemas.microsoft.com/office/powerpoint/2010/main" val="6789086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E35F-7C90-3E4F-25D8-95E761AA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707C1C-4E8D-A655-8EEC-5704EEF86BEB}"/>
              </a:ext>
            </a:extLst>
          </p:cNvPr>
          <p:cNvSpPr txBox="1"/>
          <p:nvPr/>
        </p:nvSpPr>
        <p:spPr>
          <a:xfrm>
            <a:off x="379601" y="6014189"/>
            <a:ext cx="11044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Here is our acceptance rate when </a:t>
            </a:r>
            <a:r>
              <a:rPr lang="el-GR" sz="3200" b="1" dirty="0"/>
              <a:t>σ</a:t>
            </a:r>
            <a:r>
              <a:rPr lang="en-US" sz="3200" b="1" dirty="0"/>
              <a:t>* = 0.075. Nice!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E599C9-2AFF-43A8-945F-13289B083BD3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Rolling mean of acceptance rate (across previous 100 samples)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ABFC2-8C04-B6D3-20F0-A5CD3E3C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385887"/>
            <a:ext cx="8058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462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C9E63-53AD-AD0B-292D-1812D574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3F850F-7179-2E6E-2E35-7379CE82B6C5}"/>
              </a:ext>
            </a:extLst>
          </p:cNvPr>
          <p:cNvSpPr txBox="1"/>
          <p:nvPr/>
        </p:nvSpPr>
        <p:spPr>
          <a:xfrm>
            <a:off x="379601" y="6014189"/>
            <a:ext cx="11044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Here is our acceptance rate when </a:t>
            </a:r>
            <a:r>
              <a:rPr lang="el-GR" sz="3200" b="1" dirty="0"/>
              <a:t>σ</a:t>
            </a:r>
            <a:r>
              <a:rPr lang="en-US" sz="3200" b="1" dirty="0"/>
              <a:t>* = 0.005. ugh, why?!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1E441F-9974-3CF3-7ABE-2536956FD405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Rolling mean of acceptance rate (across previous 100 samples)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BEABA-2336-A16D-6F5B-13BADE6F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385887"/>
            <a:ext cx="8058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7358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A8837-A79E-E5B0-4CA2-D1BCFA296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D31333-D972-237B-8E14-3520019BCD7E}"/>
              </a:ext>
            </a:extLst>
          </p:cNvPr>
          <p:cNvSpPr txBox="1"/>
          <p:nvPr/>
        </p:nvSpPr>
        <p:spPr>
          <a:xfrm>
            <a:off x="379601" y="6014189"/>
            <a:ext cx="11044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Here is our acceptance rate when </a:t>
            </a:r>
            <a:r>
              <a:rPr lang="el-GR" sz="3200" b="1" dirty="0"/>
              <a:t>σ</a:t>
            </a:r>
            <a:r>
              <a:rPr lang="en-US" sz="3200" b="1" dirty="0"/>
              <a:t>* = 0.15. ugh, why?!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71921-0550-3FD4-0416-B1211518006F}"/>
              </a:ext>
            </a:extLst>
          </p:cNvPr>
          <p:cNvSpPr txBox="1"/>
          <p:nvPr/>
        </p:nvSpPr>
        <p:spPr>
          <a:xfrm>
            <a:off x="379601" y="268952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Rolling mean of acceptance rate (across previous 100 samples)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845921-DF63-6C41-05EB-B7BFF3653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25" y="1385887"/>
            <a:ext cx="805815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030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65EE-B8FA-476B-75BE-CCF00C9EF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AD8867-8451-433F-6F54-CEE128E89DC0}"/>
              </a:ext>
            </a:extLst>
          </p:cNvPr>
          <p:cNvSpPr txBox="1"/>
          <p:nvPr/>
        </p:nvSpPr>
        <p:spPr>
          <a:xfrm>
            <a:off x="379601" y="268952"/>
            <a:ext cx="1144048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If tuning parameters are too small…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" panose="020B0604020202020204" pitchFamily="34" charset="0"/>
              </a:rPr>
              <a:t>We’ll just wander around inside our posterior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" panose="020B0604020202020204" pitchFamily="34" charset="0"/>
              </a:rPr>
              <a:t>Acceptance rate will be &gt;0.5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>
              <a:latin typeface="Helvetica" panose="020B0604020202020204" pitchFamily="34" charset="0"/>
            </a:endParaRPr>
          </a:p>
          <a:p>
            <a:r>
              <a:rPr lang="en-US" sz="2800" b="1" dirty="0">
                <a:latin typeface="Helvetica" panose="020B0604020202020204" pitchFamily="34" charset="0"/>
              </a:rPr>
              <a:t>If tuning parameters are too large…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" panose="020B0604020202020204" pitchFamily="34" charset="0"/>
              </a:rPr>
              <a:t>Sampling inefficiency will occur, acceptance &lt; 0.1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" panose="020B0604020202020204" pitchFamily="34" charset="0"/>
              </a:rPr>
              <a:t>Most of our guesses will be outside of the posterior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>
              <a:latin typeface="Helvetica" panose="020B0604020202020204" pitchFamily="34" charset="0"/>
            </a:endParaRPr>
          </a:p>
          <a:p>
            <a:r>
              <a:rPr lang="en-US" sz="2800" b="1" dirty="0">
                <a:latin typeface="Helvetica" panose="020B0604020202020204" pitchFamily="34" charset="0"/>
              </a:rPr>
              <a:t>If tuning parameters are just right (0.25 – 0.4)…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Helvetica" panose="020B0604020202020204" pitchFamily="34" charset="0"/>
              </a:rPr>
              <a:t>We’ll adequately explore our posterior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b="1" dirty="0">
              <a:latin typeface="Helvetica" panose="020B0604020202020204" pitchFamily="34" charset="0"/>
            </a:endParaRPr>
          </a:p>
        </p:txBody>
      </p:sp>
      <p:pic>
        <p:nvPicPr>
          <p:cNvPr id="6" name="Picture 2" descr="European Bee Eater in Italy">
            <a:extLst>
              <a:ext uri="{FF2B5EF4-FFF2-40B4-BE49-F238E27FC236}">
                <a16:creationId xmlns:a16="http://schemas.microsoft.com/office/drawing/2014/main" id="{1FE676B1-3EEE-7DE7-63BD-4052DE951D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31" y="5007662"/>
            <a:ext cx="2499937" cy="16674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4177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E73FA-9DC0-8637-CE73-672C41670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26D80D-A39D-2B4D-4A39-853DB4AF3EDC}"/>
              </a:ext>
            </a:extLst>
          </p:cNvPr>
          <p:cNvSpPr txBox="1"/>
          <p:nvPr/>
        </p:nvSpPr>
        <p:spPr>
          <a:xfrm>
            <a:off x="379601" y="324368"/>
            <a:ext cx="114404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Helvetica" panose="020B0604020202020204" pitchFamily="34" charset="0"/>
              </a:rPr>
              <a:t>Question(s)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CFB73-5385-4545-B748-E1130D89C3D3}"/>
              </a:ext>
            </a:extLst>
          </p:cNvPr>
          <p:cNvSpPr txBox="1"/>
          <p:nvPr/>
        </p:nvSpPr>
        <p:spPr>
          <a:xfrm>
            <a:off x="379600" y="1277718"/>
            <a:ext cx="1144048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do we interpret posterior distributions (95% </a:t>
            </a:r>
            <a:r>
              <a:rPr lang="en-US" sz="2400" dirty="0" err="1"/>
              <a:t>CrIs</a:t>
            </a:r>
            <a:r>
              <a:rPr lang="en-US" sz="2400" dirty="0"/>
              <a:t>, medians, means)?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i.e., how would we infer support for a hypothesis?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could change our priors in the </a:t>
            </a:r>
            <a:r>
              <a:rPr lang="en-US" sz="2400" dirty="0" err="1"/>
              <a:t>log.posterior</a:t>
            </a:r>
            <a:r>
              <a:rPr lang="en-US" sz="2400" dirty="0"/>
              <a:t> function (Line 67). Would that help with sampling efficiency?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started with terrible initial values. Would ‘better’ values help, or is it helpful to use ‘bad’ ones? How and why?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effects do tuning parameter(s) have on sampling efficiency?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Think about the trade-off between rapidly reaching realistic values vs. acceptance rate</a:t>
            </a:r>
          </a:p>
        </p:txBody>
      </p:sp>
    </p:spTree>
    <p:extLst>
      <p:ext uri="{BB962C8B-B14F-4D97-AF65-F5344CB8AC3E}">
        <p14:creationId xmlns:p14="http://schemas.microsoft.com/office/powerpoint/2010/main" val="2340708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9737</TotalTime>
  <Words>1441</Words>
  <Application>Microsoft Office PowerPoint</Application>
  <PresentationFormat>Widescreen</PresentationFormat>
  <Paragraphs>184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Arial</vt:lpstr>
      <vt:lpstr>Cambria Math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Montana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Riecke, Thomas</dc:creator>
  <cp:lastModifiedBy>Riecke, Thomas</cp:lastModifiedBy>
  <cp:revision>36</cp:revision>
  <dcterms:created xsi:type="dcterms:W3CDTF">2025-10-14T19:51:27Z</dcterms:created>
  <dcterms:modified xsi:type="dcterms:W3CDTF">2026-08-27T14:58:26Z</dcterms:modified>
</cp:coreProperties>
</file>